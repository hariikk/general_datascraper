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Calibri"/>
              </a:rPr>
              <a:t>ScrapeLite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B8C4D4"/>
                </a:solidFill>
                <a:latin typeface="Calibri"/>
              </a:rPr>
              <a:t>An automatic data scraper for scientific papers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8FA5C0"/>
                </a:solidFill>
                <a:latin typeface="Calibri"/>
              </a:rPr>
              <a:t>Search papers  →  pull out the data you need  →  get an Excel 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01C2E"/>
                </a:solidFill>
                <a:latin typeface="Calibri"/>
              </a:rPr>
              <a:t>Reading papers by hand is slow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20987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2400" b="0" dirty="0">
                <a:solidFill>
                  <a:srgbClr val="1C2733"/>
                </a:solidFill>
                <a:latin typeface="Calibri"/>
              </a:rPr>
              <a:t>You need facts from dozens</a:t>
            </a:r>
            <a:r>
              <a:rPr lang="en-IN" sz="2400" b="0" dirty="0">
                <a:solidFill>
                  <a:srgbClr val="1C2733"/>
                </a:solidFill>
                <a:latin typeface="Calibri"/>
              </a:rPr>
              <a:t> if not 100s</a:t>
            </a:r>
            <a:r>
              <a:rPr sz="2400" b="0" dirty="0">
                <a:solidFill>
                  <a:srgbClr val="1C2733"/>
                </a:solidFill>
                <a:latin typeface="Calibri"/>
              </a:rPr>
              <a:t> of papers </a:t>
            </a:r>
            <a:r>
              <a:rPr lang="en-IN" sz="2400" b="0" dirty="0">
                <a:solidFill>
                  <a:srgbClr val="1C2733"/>
                </a:solidFill>
                <a:latin typeface="Calibri"/>
              </a:rPr>
              <a:t>-</a:t>
            </a:r>
            <a:r>
              <a:rPr sz="2400" b="0" dirty="0">
                <a:solidFill>
                  <a:srgbClr val="1C2733"/>
                </a:solidFill>
                <a:latin typeface="Calibri"/>
              </a:rPr>
              <a:t> mutations, results, numbers, conditions.</a:t>
            </a:r>
          </a:p>
          <a:p>
            <a:pPr algn="l">
              <a:lnSpc>
                <a:spcPct val="115000"/>
              </a:lnSpc>
            </a:pPr>
            <a:r>
              <a:rPr sz="24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lang="en-IN" sz="2400" b="0" dirty="0">
                <a:solidFill>
                  <a:srgbClr val="1C2733"/>
                </a:solidFill>
                <a:latin typeface="Calibri"/>
              </a:rPr>
              <a:t>T</a:t>
            </a:r>
            <a:r>
              <a:rPr sz="2400" b="0" dirty="0">
                <a:solidFill>
                  <a:srgbClr val="1C2733"/>
                </a:solidFill>
                <a:latin typeface="Calibri"/>
              </a:rPr>
              <a:t>hat means opening each PDF and copying the values into a spreadsheet by hand.</a:t>
            </a:r>
          </a:p>
          <a:p>
            <a:pPr algn="l">
              <a:lnSpc>
                <a:spcPct val="115000"/>
              </a:lnSpc>
            </a:pPr>
            <a:r>
              <a:rPr sz="24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2400" b="0" dirty="0">
                <a:solidFill>
                  <a:srgbClr val="1C2733"/>
                </a:solidFill>
                <a:latin typeface="Calibri"/>
              </a:rPr>
              <a:t>It takes hours and it is easy to miss or mistype things.</a:t>
            </a:r>
          </a:p>
          <a:p>
            <a:pPr algn="l">
              <a:lnSpc>
                <a:spcPct val="115000"/>
              </a:lnSpc>
            </a:pPr>
            <a:r>
              <a:rPr sz="24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sz="2400" b="0" dirty="0">
                <a:solidFill>
                  <a:srgbClr val="1C2733"/>
                </a:solidFill>
                <a:latin typeface="Calibri"/>
              </a:rPr>
              <a:t>We want the data</a:t>
            </a:r>
            <a:r>
              <a:rPr lang="en-IN" sz="2400" dirty="0">
                <a:solidFill>
                  <a:srgbClr val="1C2733"/>
                </a:solidFill>
                <a:latin typeface="Calibri"/>
              </a:rPr>
              <a:t> but </a:t>
            </a:r>
            <a:r>
              <a:rPr sz="2400" b="0" dirty="0">
                <a:solidFill>
                  <a:srgbClr val="1C2733"/>
                </a:solidFill>
                <a:latin typeface="Calibri"/>
              </a:rPr>
              <a:t>not the busywork.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01C2E"/>
                </a:solidFill>
                <a:latin typeface="Calibri"/>
              </a:rPr>
              <a:t>What it does, in three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184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600" b="1" dirty="0">
                <a:solidFill>
                  <a:srgbClr val="2563EB"/>
                </a:solidFill>
                <a:latin typeface="Calibri"/>
              </a:rPr>
              <a:t>1  Search   </a:t>
            </a:r>
            <a:endParaRPr lang="en-IN" sz="2600" b="1" dirty="0">
              <a:solidFill>
                <a:srgbClr val="2563EB"/>
              </a:solidFill>
              <a:latin typeface="Calibri"/>
            </a:endParaRPr>
          </a:p>
          <a:p>
            <a:pPr algn="l">
              <a:lnSpc>
                <a:spcPct val="160000"/>
              </a:lnSpc>
            </a:pPr>
            <a:r>
              <a:rPr sz="2600" b="1" dirty="0">
                <a:solidFill>
                  <a:srgbClr val="2563EB"/>
                </a:solidFill>
                <a:latin typeface="Calibri"/>
              </a:rPr>
              <a:t>2  Collect   </a:t>
            </a:r>
            <a:endParaRPr lang="en-IN" sz="2600" b="1" dirty="0">
              <a:solidFill>
                <a:srgbClr val="2563EB"/>
              </a:solidFill>
              <a:latin typeface="Calibri"/>
            </a:endParaRPr>
          </a:p>
          <a:p>
            <a:pPr algn="l">
              <a:lnSpc>
                <a:spcPct val="160000"/>
              </a:lnSpc>
            </a:pPr>
            <a:r>
              <a:rPr sz="2600" b="1" dirty="0">
                <a:solidFill>
                  <a:srgbClr val="2563EB"/>
                </a:solidFill>
                <a:latin typeface="Calibri"/>
              </a:rPr>
              <a:t>3  Extract</a:t>
            </a:r>
            <a:endParaRPr sz="2600" b="0" dirty="0">
              <a:solidFill>
                <a:srgbClr val="1C273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dirty="0">
                <a:solidFill>
                  <a:srgbClr val="101C2E"/>
                </a:solidFill>
                <a:latin typeface="Calibri"/>
              </a:rPr>
              <a:t>What you get</a:t>
            </a:r>
            <a:r>
              <a:rPr lang="en-IN" sz="3400" b="1" dirty="0">
                <a:solidFill>
                  <a:srgbClr val="101C2E"/>
                </a:solidFill>
                <a:latin typeface="Calibri"/>
              </a:rPr>
              <a:t> -</a:t>
            </a:r>
            <a:r>
              <a:rPr sz="3400" b="1" dirty="0">
                <a:solidFill>
                  <a:srgbClr val="101C2E"/>
                </a:solidFill>
                <a:latin typeface="Calibri"/>
              </a:rPr>
              <a:t> a clean Excel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673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dirty="0">
                <a:solidFill>
                  <a:srgbClr val="2563EB"/>
                </a:solidFill>
                <a:latin typeface="Calibri"/>
              </a:rPr>
              <a:t>search_results.xlsx   </a:t>
            </a:r>
            <a:r>
              <a:rPr lang="en-IN" sz="2400" b="1" dirty="0">
                <a:solidFill>
                  <a:srgbClr val="2563EB"/>
                </a:solidFill>
                <a:latin typeface="Calibri"/>
              </a:rPr>
              <a:t>-</a:t>
            </a:r>
            <a:r>
              <a:rPr sz="2400" b="1" dirty="0">
                <a:solidFill>
                  <a:srgbClr val="2563EB"/>
                </a:solidFill>
                <a:latin typeface="Calibri"/>
              </a:rPr>
              <a:t>   </a:t>
            </a:r>
            <a:r>
              <a:rPr sz="2400" b="0" dirty="0">
                <a:solidFill>
                  <a:srgbClr val="1C2733"/>
                </a:solidFill>
                <a:latin typeface="Calibri"/>
              </a:rPr>
              <a:t>every paper it found (title, authors, DOI, link).</a:t>
            </a:r>
          </a:p>
          <a:p>
            <a:pPr algn="l">
              <a:lnSpc>
                <a:spcPct val="115000"/>
              </a:lnSpc>
            </a:pPr>
            <a:r>
              <a:rPr sz="2400" b="1" dirty="0">
                <a:solidFill>
                  <a:srgbClr val="2563EB"/>
                </a:solidFill>
                <a:latin typeface="Calibri"/>
              </a:rPr>
              <a:t>extracted_data.xlsx   </a:t>
            </a:r>
            <a:r>
              <a:rPr lang="en-IN" sz="2400" b="1" dirty="0">
                <a:solidFill>
                  <a:srgbClr val="2563EB"/>
                </a:solidFill>
                <a:latin typeface="Calibri"/>
              </a:rPr>
              <a:t>-</a:t>
            </a:r>
            <a:r>
              <a:rPr sz="2400" b="1" dirty="0">
                <a:solidFill>
                  <a:srgbClr val="2563EB"/>
                </a:solidFill>
                <a:latin typeface="Calibri"/>
              </a:rPr>
              <a:t>   </a:t>
            </a:r>
            <a:r>
              <a:rPr sz="2400" b="0" dirty="0">
                <a:solidFill>
                  <a:srgbClr val="1C2733"/>
                </a:solidFill>
                <a:latin typeface="Calibri"/>
              </a:rPr>
              <a:t>the data you asked for, one row per finding.</a:t>
            </a:r>
          </a:p>
          <a:p>
            <a:pPr algn="l">
              <a:lnSpc>
                <a:spcPct val="115000"/>
              </a:lnSpc>
            </a:pPr>
            <a:r>
              <a:rPr sz="2400" b="1" dirty="0">
                <a:solidFill>
                  <a:srgbClr val="2563EB"/>
                </a:solidFill>
                <a:latin typeface="Calibri"/>
              </a:rPr>
              <a:t>closed_source_papers.xlsx  </a:t>
            </a:r>
            <a:r>
              <a:rPr lang="en-IN" sz="2400" b="1" dirty="0">
                <a:solidFill>
                  <a:srgbClr val="2563EB"/>
                </a:solidFill>
                <a:latin typeface="Calibri"/>
              </a:rPr>
              <a:t> -</a:t>
            </a:r>
            <a:r>
              <a:rPr sz="2400" b="1" dirty="0">
                <a:solidFill>
                  <a:srgbClr val="2563EB"/>
                </a:solidFill>
                <a:latin typeface="Calibri"/>
              </a:rPr>
              <a:t> </a:t>
            </a:r>
            <a:r>
              <a:rPr lang="en-IN" sz="2400" b="1" dirty="0">
                <a:solidFill>
                  <a:srgbClr val="2563EB"/>
                </a:solidFill>
                <a:latin typeface="Calibri"/>
              </a:rPr>
              <a:t> </a:t>
            </a:r>
            <a:r>
              <a:rPr sz="2400" b="1" dirty="0">
                <a:solidFill>
                  <a:srgbClr val="2563EB"/>
                </a:solidFill>
                <a:latin typeface="Calibri"/>
              </a:rPr>
              <a:t> </a:t>
            </a:r>
            <a:r>
              <a:rPr sz="2400" b="0" dirty="0">
                <a:solidFill>
                  <a:srgbClr val="1C2733"/>
                </a:solidFill>
                <a:latin typeface="Calibri"/>
              </a:rPr>
              <a:t>paywalled papers it could not open (</a:t>
            </a:r>
            <a:r>
              <a:rPr sz="2400" b="0" dirty="0" err="1">
                <a:solidFill>
                  <a:srgbClr val="1C2733"/>
                </a:solidFill>
                <a:latin typeface="Calibri"/>
              </a:rPr>
              <a:t>logge</a:t>
            </a:r>
            <a:r>
              <a:rPr lang="en-IN" sz="2400" b="0" dirty="0">
                <a:solidFill>
                  <a:srgbClr val="1C2733"/>
                </a:solidFill>
                <a:latin typeface="Calibri"/>
              </a:rPr>
              <a:t>d)</a:t>
            </a:r>
            <a:r>
              <a:rPr sz="2400" b="0" dirty="0">
                <a:solidFill>
                  <a:srgbClr val="1C2733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2400" b="1" dirty="0">
                <a:solidFill>
                  <a:srgbClr val="2563EB"/>
                </a:solidFill>
                <a:latin typeface="Calibri"/>
              </a:rPr>
              <a:t>Everything </a:t>
            </a:r>
            <a:r>
              <a:rPr lang="en-IN" sz="2400" b="1" dirty="0">
                <a:solidFill>
                  <a:srgbClr val="2563EB"/>
                </a:solidFill>
                <a:latin typeface="Calibri"/>
              </a:rPr>
              <a:t>is saved </a:t>
            </a:r>
            <a:r>
              <a:rPr sz="2400" b="1" dirty="0">
                <a:solidFill>
                  <a:srgbClr val="2563EB"/>
                </a:solidFill>
                <a:latin typeface="Calibri"/>
              </a:rPr>
              <a:t>in the </a:t>
            </a:r>
            <a:r>
              <a:rPr sz="2400" b="0" dirty="0">
                <a:solidFill>
                  <a:srgbClr val="1C2733"/>
                </a:solidFill>
                <a:latin typeface="Calibri"/>
              </a:rPr>
              <a:t>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01C2E"/>
                </a:solidFill>
                <a:latin typeface="Calibri"/>
              </a:rPr>
              <a:t>Using it takes no code at 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2888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1" dirty="0">
                <a:solidFill>
                  <a:srgbClr val="16A34A"/>
                </a:solidFill>
                <a:latin typeface="Calibri"/>
              </a:rPr>
              <a:t>First time only   </a:t>
            </a:r>
            <a:r>
              <a:rPr sz="2400" b="0" dirty="0">
                <a:solidFill>
                  <a:srgbClr val="1C2733"/>
                </a:solidFill>
                <a:latin typeface="Calibri"/>
              </a:rPr>
              <a:t>double-click setup.bat (installs everything once).</a:t>
            </a:r>
          </a:p>
          <a:p>
            <a:pPr algn="l">
              <a:lnSpc>
                <a:spcPct val="160000"/>
              </a:lnSpc>
            </a:pPr>
            <a:r>
              <a:rPr sz="2400" b="1" dirty="0">
                <a:solidFill>
                  <a:srgbClr val="16A34A"/>
                </a:solidFill>
                <a:latin typeface="Calibri"/>
              </a:rPr>
              <a:t>Every time   </a:t>
            </a:r>
            <a:r>
              <a:rPr sz="2400" b="0" dirty="0">
                <a:solidFill>
                  <a:srgbClr val="1C2733"/>
                </a:solidFill>
                <a:latin typeface="Calibri"/>
              </a:rPr>
              <a:t>double-click start.bat </a:t>
            </a:r>
            <a:r>
              <a:rPr lang="en-IN" sz="2400" b="0" dirty="0">
                <a:solidFill>
                  <a:srgbClr val="1C2733"/>
                </a:solidFill>
                <a:latin typeface="Calibri"/>
              </a:rPr>
              <a:t>-</a:t>
            </a:r>
            <a:r>
              <a:rPr sz="2400" b="0" dirty="0">
                <a:solidFill>
                  <a:srgbClr val="1C2733"/>
                </a:solidFill>
                <a:latin typeface="Calibri"/>
              </a:rPr>
              <a:t> a page opens in your browser.</a:t>
            </a:r>
          </a:p>
          <a:p>
            <a:pPr algn="l">
              <a:lnSpc>
                <a:spcPct val="160000"/>
              </a:lnSpc>
            </a:pPr>
            <a:r>
              <a:rPr sz="2400" b="1" dirty="0">
                <a:solidFill>
                  <a:srgbClr val="16A34A"/>
                </a:solidFill>
                <a:latin typeface="Calibri"/>
              </a:rPr>
              <a:t>Type your </a:t>
            </a:r>
            <a:r>
              <a:rPr lang="en-IN" sz="2400" b="1" dirty="0">
                <a:solidFill>
                  <a:srgbClr val="16A34A"/>
                </a:solidFill>
                <a:latin typeface="Calibri"/>
              </a:rPr>
              <a:t>search </a:t>
            </a:r>
            <a:r>
              <a:rPr sz="2400" b="1" dirty="0">
                <a:solidFill>
                  <a:srgbClr val="16A34A"/>
                </a:solidFill>
                <a:latin typeface="Calibri"/>
              </a:rPr>
              <a:t>terms, pick sites, click </a:t>
            </a:r>
            <a:r>
              <a:rPr sz="2400" b="0" dirty="0">
                <a:solidFill>
                  <a:srgbClr val="1C2733"/>
                </a:solidFill>
                <a:latin typeface="Calibri"/>
              </a:rPr>
              <a:t>Search</a:t>
            </a:r>
          </a:p>
          <a:p>
            <a:pPr algn="l">
              <a:lnSpc>
                <a:spcPct val="160000"/>
              </a:lnSpc>
            </a:pPr>
            <a:r>
              <a:rPr sz="2400" b="1" dirty="0">
                <a:solidFill>
                  <a:srgbClr val="16A34A"/>
                </a:solidFill>
                <a:latin typeface="Calibri"/>
              </a:rPr>
              <a:t>Describe what to extract, click </a:t>
            </a:r>
            <a:r>
              <a:rPr sz="2400" b="0" dirty="0">
                <a:solidFill>
                  <a:srgbClr val="1C2733"/>
                </a:solidFill>
                <a:latin typeface="Calibri"/>
              </a:rPr>
              <a:t>Extract</a:t>
            </a:r>
          </a:p>
          <a:p>
            <a:pPr algn="l">
              <a:lnSpc>
                <a:spcPct val="160000"/>
              </a:lnSpc>
            </a:pPr>
            <a:r>
              <a:rPr sz="2400" b="1" dirty="0">
                <a:solidFill>
                  <a:srgbClr val="16A34A"/>
                </a:solidFill>
                <a:latin typeface="Calibri"/>
              </a:rPr>
              <a:t>Open the </a:t>
            </a:r>
            <a:r>
              <a:rPr sz="2400" b="0" dirty="0">
                <a:solidFill>
                  <a:srgbClr val="1C2733"/>
                </a:solidFill>
                <a:latin typeface="Calibri"/>
              </a:rPr>
              <a:t>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01C2E"/>
                </a:solidFill>
                <a:latin typeface="Calibri"/>
              </a:rPr>
              <a:t>Why this helps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12492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lang="en-IN" sz="2400" b="0" dirty="0">
                <a:solidFill>
                  <a:srgbClr val="1C2733"/>
                </a:solidFill>
                <a:latin typeface="Calibri"/>
              </a:rPr>
              <a:t>Saves time</a:t>
            </a:r>
            <a:endParaRPr sz="2400" b="0" dirty="0">
              <a:solidFill>
                <a:srgbClr val="1C2733"/>
              </a:solidFill>
              <a:latin typeface="Calibri"/>
            </a:endParaRPr>
          </a:p>
          <a:p>
            <a:pPr>
              <a:lnSpc>
                <a:spcPct val="115000"/>
              </a:lnSpc>
            </a:pPr>
            <a:r>
              <a:rPr sz="2400" b="1" dirty="0">
                <a:solidFill>
                  <a:srgbClr val="2563EB"/>
                </a:solidFill>
                <a:latin typeface="Calibri"/>
              </a:rPr>
              <a:t>•  </a:t>
            </a:r>
            <a:r>
              <a:rPr lang="en-IN" sz="2400" dirty="0" err="1">
                <a:solidFill>
                  <a:srgbClr val="1C2733"/>
                </a:solidFill>
              </a:rPr>
              <a:t>Datenschutz</a:t>
            </a:r>
            <a:r>
              <a:rPr lang="en-IN" sz="2400" b="0" dirty="0">
                <a:solidFill>
                  <a:srgbClr val="1C2733"/>
                </a:solidFill>
                <a:latin typeface="Calibri"/>
              </a:rPr>
              <a:t> - </a:t>
            </a:r>
            <a:r>
              <a:rPr sz="2400" b="0" dirty="0">
                <a:solidFill>
                  <a:srgbClr val="1C2733"/>
                </a:solidFill>
                <a:latin typeface="Calibri"/>
              </a:rPr>
              <a:t>the AI runs on your own computer </a:t>
            </a:r>
            <a:r>
              <a:rPr lang="en-IN" sz="2400" dirty="0">
                <a:solidFill>
                  <a:srgbClr val="1C2733"/>
                </a:solidFill>
                <a:latin typeface="Calibri"/>
              </a:rPr>
              <a:t>so</a:t>
            </a:r>
            <a:r>
              <a:rPr sz="2400" b="0" dirty="0">
                <a:solidFill>
                  <a:srgbClr val="1C2733"/>
                </a:solidFill>
                <a:latin typeface="Calibri"/>
              </a:rPr>
              <a:t> your data never leaves the machine</a:t>
            </a:r>
            <a:r>
              <a:rPr lang="en-IN" sz="2400" dirty="0">
                <a:solidFill>
                  <a:srgbClr val="1C2733"/>
                </a:solidFill>
                <a:latin typeface="Calibri"/>
              </a:rPr>
              <a:t>.</a:t>
            </a:r>
            <a:endParaRPr lang="en-IN" sz="2400" b="0" dirty="0">
              <a:solidFill>
                <a:srgbClr val="1C2733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248</Words>
  <Application>Microsoft Office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Hari Krishna M</cp:lastModifiedBy>
  <cp:revision>2</cp:revision>
  <dcterms:created xsi:type="dcterms:W3CDTF">2013-01-27T09:14:16Z</dcterms:created>
  <dcterms:modified xsi:type="dcterms:W3CDTF">2026-10-27T01:15:10Z</dcterms:modified>
  <cp:category/>
</cp:coreProperties>
</file>